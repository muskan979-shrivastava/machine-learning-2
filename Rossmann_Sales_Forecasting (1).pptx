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Average Daily Sales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Avg. Sales (€)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 Running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Avg. Sales (€)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7991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Average Daily Customers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Avg. Customers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 Running</c:v>
                </c:pt>
              </c:strCache>
            </c:strRef>
          </c:tx>
          <c:spPr>
            <a:solidFill>
              <a:srgbClr val="E867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Avg. Customers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Avg. Sales: Weekday vs Weekend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6867</c:v>
                </c:pt>
                <c:pt idx="1">
                  <c:v>3026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Weekend Sales by Weekday Consistency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7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Rarely open
all weekdays</c:v>
                  </c:pt>
                  <c:pt idx="1">
                    <c:v>Open &gt;99% of
weekdays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2945</c:v>
                </c:pt>
                <c:pt idx="1">
                  <c:v>11627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Monthly Seasonality (avg. daily sales)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Daily Sales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5465</c:v>
                </c:pt>
                <c:pt idx="1">
                  <c:v>5645</c:v>
                </c:pt>
                <c:pt idx="2">
                  <c:v>5785</c:v>
                </c:pt>
                <c:pt idx="3">
                  <c:v>5739</c:v>
                </c:pt>
                <c:pt idx="4">
                  <c:v>5490</c:v>
                </c:pt>
                <c:pt idx="5">
                  <c:v>5761</c:v>
                </c:pt>
                <c:pt idx="6">
                  <c:v>6065</c:v>
                </c:pt>
                <c:pt idx="7">
                  <c:v>5693</c:v>
                </c:pt>
                <c:pt idx="8">
                  <c:v>5570</c:v>
                </c:pt>
                <c:pt idx="9">
                  <c:v>5537</c:v>
                </c:pt>
                <c:pt idx="10">
                  <c:v>6008</c:v>
                </c:pt>
                <c:pt idx="11">
                  <c:v>6827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00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Avg. Sales by Store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 Type</c:v>
                </c:pt>
              </c:strCache>
            </c:strRef>
          </c:tx>
          <c:spPr>
            <a:solidFill>
              <a:srgbClr val="E867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5738</c:v>
                </c:pt>
                <c:pt idx="1">
                  <c:v>10059</c:v>
                </c:pt>
                <c:pt idx="2">
                  <c:v>5724</c:v>
                </c:pt>
                <c:pt idx="3">
                  <c:v>5642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Avg. Sales by Assortment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Assortment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(basic)</c:v>
                  </c:pt>
                  <c:pt idx="1">
                    <c:v>b (extra)</c:v>
                  </c:pt>
                  <c:pt idx="2">
                    <c:v>c (extended)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5481</c:v>
                </c:pt>
                <c:pt idx="1">
                  <c:v>8554</c:v>
                </c:pt>
                <c:pt idx="2">
                  <c:v>6059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3840480" cy="384048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·  ROSSMANN PHARMACEUTICALS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 Across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Retail Stores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insights, a Random Forest + LSTM modeling pipeline, and a live prediction dashboard for the finance team.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analysed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51760" y="5212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yrs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sales data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0" y="5212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team currently forecasts sales using each store manager's personal judgement. This project replaces that with a data-driven pipeline that predicts daily sales up to six weeks ahead, using promotions, holidays, seasonality, competition and store profile as predictors.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947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1,017,209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4389120"/>
            <a:ext cx="1335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2013 – Jul 2015)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1408" y="36576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37947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4389120"/>
            <a:ext cx="1335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stores across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94176" y="36576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37947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41,088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67328" y="4389120"/>
            <a:ext cx="1335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to forecast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(6-week horizon)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66944" y="36576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37947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0096" y="4389120"/>
            <a:ext cx="1335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assortment levels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predictive signals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(Promo &amp; Promo2)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school holidays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(month, week)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distance &amp; 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 &amp; assortment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/ weekend rhythm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 FINDING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substantially lift sales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6459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days see ~81% higher sales and ~58% more customers — the lift comes from new footfall, not just bigger baskets from existing shoppers.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 FINDING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open consistently pays off on weekends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6459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of 1,115 stores stay open on &gt;99% of weekdays — but they earn ~4x more on weekends than the rest, suggesting consistent availability builds weekend footfall.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 FINDING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Seasonality, store type and assortment all matter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(Christmas) peaks ~25% above the January low — clear holiday-driven seasonality.</a:t>
            </a:r>
            <a:endParaRPr lang="en-US" sz="125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7040880" y="1600200"/>
          <a:ext cx="45720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7040880" y="3977640"/>
          <a:ext cx="45720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 scikit-learn forecasting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22768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parts, weekday/weekend, month start/mid/end, cyclical (sin/cos), competitor &amp; Promo2 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6432" y="24688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3017520"/>
            <a:ext cx="22768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Median-impute numeric features; most-frequent-impute + one-hot encode categoricals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24688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3017520"/>
            <a:ext cx="22768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 (200 trees) inside a single sklearn Pipeline for reproducibility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283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42832" y="24688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explain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2832" y="3017520"/>
            <a:ext cx="22768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/ R², feature importance, 95% empirical prediction interval from residuals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5780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MAE &amp; RMSE?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gives average error in real sales units for easy business interpretation; RMSE penalises the large misses that hurt inventory and cash planning most. R² is tracked as a supporting explanatory metric.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2.6 · 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with a 2-layer LSTM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733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daily sales into a single time series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0664" y="2075688"/>
            <a:ext cx="0" cy="182880"/>
          </a:xfrm>
          <a:prstGeom prst="line">
            <a:avLst/>
          </a:prstGeom>
          <a:noFill/>
          <a:ln w="19050">
            <a:solidFill>
              <a:srgbClr val="3D4A9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2585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stationarity (Augmented Dickey-Fuller)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0664" y="2642616"/>
            <a:ext cx="0" cy="182880"/>
          </a:xfrm>
          <a:prstGeom prst="line">
            <a:avLst/>
          </a:prstGeom>
          <a:noFill/>
          <a:ln w="19050">
            <a:solidFill>
              <a:srgbClr val="3D4A9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2825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8072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the series if non-stationary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40664" y="3209544"/>
            <a:ext cx="0" cy="182880"/>
          </a:xfrm>
          <a:prstGeom prst="line">
            <a:avLst/>
          </a:prstGeom>
          <a:noFill/>
          <a:ln w="19050">
            <a:solidFill>
              <a:srgbClr val="3D4A9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3392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741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ACF / PACF for lag structure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0664" y="3776472"/>
            <a:ext cx="0" cy="182880"/>
          </a:xfrm>
          <a:prstGeom prst="line">
            <a:avLst/>
          </a:prstGeom>
          <a:noFill/>
          <a:ln w="19050">
            <a:solidFill>
              <a:srgbClr val="3D4A9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9593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→ supervised (X, y) pairs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40664" y="4343400"/>
            <a:ext cx="0" cy="182880"/>
          </a:xfrm>
          <a:prstGeom prst="line">
            <a:avLst/>
          </a:prstGeom>
          <a:noFill/>
          <a:ln w="19050">
            <a:solidFill>
              <a:srgbClr val="3D4A9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4526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5079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(-1, 1) with MinMaxScaler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40664" y="4910328"/>
            <a:ext cx="0" cy="182880"/>
          </a:xfrm>
          <a:prstGeom prst="line">
            <a:avLst/>
          </a:prstGeom>
          <a:noFill/>
          <a:ln w="19050">
            <a:solidFill>
              <a:srgbClr val="3D4A9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8640" y="5093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674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5074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2-layer LSTM to predict next-day sales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SERVING PREDICTIONS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a manager-facing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(app.py)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Store ID, Promo, holiday flags &amp; date range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upload a CSV of future dates to score in bulk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latest timestamped model automatically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predicted Sales &amp; Customers over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download of the forecast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before final submission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notebook, app.py, README to GitHub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data with DVC (screenshot multiple versions)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several MLflow runs with different hyperparameters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dashboard (Heroku / Streamlit Cloud)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PDF report — emphasise the LSTM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— NextHikes x Rossmann Pharmaceuticals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2026-09-15T11:43:29Z</dcterms:created>
  <dcterms:modified xsi:type="dcterms:W3CDTF">2026-09-15T11:43:29Z</dcterms:modified>
</cp:coreProperties>
</file>